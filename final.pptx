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91" d="100"/>
          <a:sy n="91" d="100"/>
        </p:scale>
        <p:origin x="37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B59EE3-AAB2-4ED3-990D-F2CEDDC754FF}" type="datetimeFigureOut">
              <a:rPr lang="en-US" smtClean="0"/>
              <a:t>8/7/2021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705849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B59EE3-AAB2-4ED3-990D-F2CEDDC754FF}" type="datetimeFigureOut">
              <a:rPr lang="en-US" smtClean="0"/>
              <a:t>8/7/2021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2335367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B59EE3-AAB2-4ED3-990D-F2CEDDC754FF}" type="datetimeFigureOut">
              <a:rPr lang="en-US" smtClean="0"/>
              <a:t>8/7/2021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006687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716452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B59EE3-AAB2-4ED3-990D-F2CEDDC754FF}" type="datetimeFigureOut">
              <a:rPr lang="en-US" smtClean="0"/>
              <a:t>8/7/2021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495081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B59EE3-AAB2-4ED3-990D-F2CEDDC754FF}" type="datetimeFigureOut">
              <a:rPr lang="en-US" smtClean="0"/>
              <a:t>8/7/2021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76226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B59EE3-AAB2-4ED3-990D-F2CEDDC754FF}" type="datetimeFigureOut">
              <a:rPr lang="en-US" smtClean="0"/>
              <a:t>8/7/2021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328008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461694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3841138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357548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7686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7109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B59EE3-AAB2-4ED3-990D-F2CEDDC754FF}" type="datetimeFigureOut">
              <a:rPr lang="en-US" smtClean="0"/>
              <a:t>8/7/2021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3277106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B59EE3-AAB2-4ED3-990D-F2CEDDC754FF}" type="datetimeFigureOut">
              <a:rPr lang="en-US" smtClean="0"/>
              <a:t>8/7/2021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3439630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B59EE3-AAB2-4ED3-990D-F2CEDDC754FF}" type="datetimeFigureOut">
              <a:rPr lang="en-US" smtClean="0"/>
              <a:t>8/7/2021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145189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B59EE3-AAB2-4ED3-990D-F2CEDDC754FF}" type="datetimeFigureOut">
              <a:rPr lang="en-US" smtClean="0"/>
              <a:t>8/7/2021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4229683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B59EE3-AAB2-4ED3-990D-F2CEDDC754FF}" type="datetimeFigureOut">
              <a:rPr lang="en-US" smtClean="0"/>
              <a:t>8/7/2021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6C3106-9EE7-4065-BB33-AE67C6117031}" type="slidenum">
              <a:rPr lang="en-US" smtClean="0"/>
              <a:t>‹#›</a:t>
            </a:fld>
            <a:endParaRPr lang="en-US"/>
          </a:p>
        </p:txBody>
      </p:sp>
    </p:spTree>
    <p:extLst>
      <p:ext uri="{BB962C8B-B14F-4D97-AF65-F5344CB8AC3E}">
        <p14:creationId xmlns:p14="http://schemas.microsoft.com/office/powerpoint/2010/main" val="1733336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FB59EE3-AAB2-4ED3-990D-F2CEDDC754FF}" type="datetimeFigureOut">
              <a:rPr lang="en-US" smtClean="0"/>
              <a:t>8/7/2021</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B6C3106-9EE7-4065-BB33-AE67C6117031}" type="slidenum">
              <a:rPr lang="en-US" smtClean="0"/>
              <a:t>‹#›</a:t>
            </a:fld>
            <a:endParaRPr lang="en-US"/>
          </a:p>
        </p:txBody>
      </p:sp>
    </p:spTree>
    <p:extLst>
      <p:ext uri="{BB962C8B-B14F-4D97-AF65-F5344CB8AC3E}">
        <p14:creationId xmlns:p14="http://schemas.microsoft.com/office/powerpoint/2010/main" val="1108902991"/>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nsauga.com/employees-at-grocery-store-and-pharmacy-in-mississauga-test-positive-for-covid-19" TargetMode="External"/><Relationship Id="rId2" Type="http://schemas.openxmlformats.org/officeDocument/2006/relationships/image" Target="../media/image6.jpeg"/><Relationship Id="rId1" Type="http://schemas.openxmlformats.org/officeDocument/2006/relationships/slideLayout" Target="../slideLayouts/slideLayout1.xml"/><Relationship Id="rId5" Type="http://schemas.openxmlformats.org/officeDocument/2006/relationships/hyperlink" Target="https://foodsystemsjournal.org/index.php/fsj/article/view/806" TargetMode="Externa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extquickbytes.blogspot.com/2016/08/google-forms-not-surveymonkeying-around.html" TargetMode="External"/><Relationship Id="rId7" Type="http://schemas.openxmlformats.org/officeDocument/2006/relationships/hyperlink" Target="http://stackoverflow.com/questions/19267704/calculate-percentages-like-excel-pie-chart" TargetMode="Externa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hyperlink" Target="https://commons.wikimedia.org/wiki/File:Microsoft_Excel_2013-2019_logo.svg" TargetMode="Externa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lickr.com/photos/mtaphotos/50298485342/"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A12EAC-59B1-45BA-9FAA-892DD84F4E5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17646"/>
            <a:ext cx="12192000" cy="6893292"/>
          </a:xfrm>
          <a:prstGeom prst="rect">
            <a:avLst/>
          </a:prstGeom>
          <a:ln/>
        </p:spPr>
        <p:style>
          <a:lnRef idx="2">
            <a:schemeClr val="dk1">
              <a:shade val="50000"/>
            </a:schemeClr>
          </a:lnRef>
          <a:fillRef idx="1">
            <a:schemeClr val="dk1"/>
          </a:fillRef>
          <a:effectRef idx="0">
            <a:schemeClr val="dk1"/>
          </a:effectRef>
          <a:fontRef idx="minor">
            <a:schemeClr val="lt1"/>
          </a:fontRef>
        </p:style>
      </p:pic>
      <p:sp>
        <p:nvSpPr>
          <p:cNvPr id="2" name="Title 1">
            <a:extLst>
              <a:ext uri="{FF2B5EF4-FFF2-40B4-BE49-F238E27FC236}">
                <a16:creationId xmlns:a16="http://schemas.microsoft.com/office/drawing/2014/main" id="{578753BD-28B6-40A4-B6BA-2E18B73AC7D7}"/>
              </a:ext>
            </a:extLst>
          </p:cNvPr>
          <p:cNvSpPr>
            <a:spLocks noGrp="1"/>
          </p:cNvSpPr>
          <p:nvPr>
            <p:ph type="ctrTitle"/>
          </p:nvPr>
        </p:nvSpPr>
        <p:spPr>
          <a:xfrm>
            <a:off x="2407641" y="1921078"/>
            <a:ext cx="6769915" cy="2231472"/>
          </a:xfrm>
        </p:spPr>
        <p:txBody>
          <a:bodyPr>
            <a:noAutofit/>
          </a:bodyPr>
          <a:lstStyle/>
          <a:p>
            <a:r>
              <a:rPr lang="en-US" sz="7200" u="sng" dirty="0">
                <a:solidFill>
                  <a:schemeClr val="tx1"/>
                </a:solidFill>
                <a:latin typeface="Bahnschrift" panose="020B0502040204020203" pitchFamily="34" charset="0"/>
              </a:rPr>
              <a:t>Food Survey During Covid-19 </a:t>
            </a:r>
          </a:p>
        </p:txBody>
      </p:sp>
      <p:pic>
        <p:nvPicPr>
          <p:cNvPr id="7" name="Picture 6">
            <a:extLst>
              <a:ext uri="{FF2B5EF4-FFF2-40B4-BE49-F238E27FC236}">
                <a16:creationId xmlns:a16="http://schemas.microsoft.com/office/drawing/2014/main" id="{5B16797B-868A-4192-8B67-6B716F348CBA}"/>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40380"/>
          <a:stretch/>
        </p:blipFill>
        <p:spPr>
          <a:xfrm>
            <a:off x="0" y="-17646"/>
            <a:ext cx="2471038" cy="2156701"/>
          </a:xfrm>
          <a:prstGeom prst="rect">
            <a:avLst/>
          </a:prstGeom>
        </p:spPr>
      </p:pic>
      <p:sp>
        <p:nvSpPr>
          <p:cNvPr id="12" name="TextBox 11">
            <a:extLst>
              <a:ext uri="{FF2B5EF4-FFF2-40B4-BE49-F238E27FC236}">
                <a16:creationId xmlns:a16="http://schemas.microsoft.com/office/drawing/2014/main" id="{35E8733C-BAE1-461E-9B2A-C95A25CC7BBC}"/>
              </a:ext>
            </a:extLst>
          </p:cNvPr>
          <p:cNvSpPr txBox="1"/>
          <p:nvPr/>
        </p:nvSpPr>
        <p:spPr>
          <a:xfrm>
            <a:off x="8439324" y="6224631"/>
            <a:ext cx="3221373" cy="646331"/>
          </a:xfrm>
          <a:prstGeom prst="rect">
            <a:avLst/>
          </a:prstGeom>
          <a:noFill/>
        </p:spPr>
        <p:txBody>
          <a:bodyPr wrap="square" rtlCol="0">
            <a:spAutoFit/>
          </a:bodyPr>
          <a:lstStyle/>
          <a:p>
            <a:r>
              <a:rPr lang="en-US" dirty="0">
                <a:solidFill>
                  <a:schemeClr val="bg1"/>
                </a:solidFill>
                <a:latin typeface="Bahnschrift" panose="020B0502040204020203" pitchFamily="34" charset="0"/>
              </a:rPr>
              <a:t>A Data Science Project Work</a:t>
            </a:r>
          </a:p>
          <a:p>
            <a:r>
              <a:rPr lang="en-US" dirty="0">
                <a:solidFill>
                  <a:schemeClr val="bg1"/>
                </a:solidFill>
                <a:latin typeface="Bahnschrift" panose="020B0502040204020203" pitchFamily="34" charset="0"/>
              </a:rPr>
              <a:t> Top Mentor [Batch 55]</a:t>
            </a:r>
          </a:p>
        </p:txBody>
      </p:sp>
    </p:spTree>
    <p:extLst>
      <p:ext uri="{BB962C8B-B14F-4D97-AF65-F5344CB8AC3E}">
        <p14:creationId xmlns:p14="http://schemas.microsoft.com/office/powerpoint/2010/main" val="768963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6562-F8EF-4BBA-97F7-1CD1E1587C99}"/>
              </a:ext>
            </a:extLst>
          </p:cNvPr>
          <p:cNvSpPr>
            <a:spLocks noGrp="1"/>
          </p:cNvSpPr>
          <p:nvPr>
            <p:ph type="title"/>
          </p:nvPr>
        </p:nvSpPr>
        <p:spPr/>
        <p:txBody>
          <a:bodyPr/>
          <a:lstStyle/>
          <a:p>
            <a:pPr algn="l"/>
            <a:r>
              <a:rPr lang="en-US" dirty="0"/>
              <a:t>Agenda</a:t>
            </a:r>
          </a:p>
        </p:txBody>
      </p:sp>
      <p:sp>
        <p:nvSpPr>
          <p:cNvPr id="3" name="Content Placeholder 2">
            <a:extLst>
              <a:ext uri="{FF2B5EF4-FFF2-40B4-BE49-F238E27FC236}">
                <a16:creationId xmlns:a16="http://schemas.microsoft.com/office/drawing/2014/main" id="{3916EC3D-F024-450B-A62D-E43F77C0C524}"/>
              </a:ext>
            </a:extLst>
          </p:cNvPr>
          <p:cNvSpPr>
            <a:spLocks noGrp="1"/>
          </p:cNvSpPr>
          <p:nvPr>
            <p:ph idx="1"/>
          </p:nvPr>
        </p:nvSpPr>
        <p:spPr>
          <a:xfrm>
            <a:off x="1098353" y="1580050"/>
            <a:ext cx="10353762" cy="4058751"/>
          </a:xfrm>
        </p:spPr>
        <p:txBody>
          <a:bodyPr>
            <a:noAutofit/>
          </a:bodyPr>
          <a:lstStyle/>
          <a:p>
            <a:r>
              <a:rPr lang="en-US" sz="2400" dirty="0"/>
              <a:t>Introduction</a:t>
            </a:r>
          </a:p>
          <a:p>
            <a:endParaRPr lang="en-US" sz="2400" dirty="0"/>
          </a:p>
          <a:p>
            <a:r>
              <a:rPr lang="en-US" sz="2400" dirty="0"/>
              <a:t>Problem Statemen &amp; Data Source</a:t>
            </a:r>
          </a:p>
          <a:p>
            <a:endParaRPr lang="en-US" sz="2400" dirty="0"/>
          </a:p>
          <a:p>
            <a:r>
              <a:rPr lang="en-US" sz="2400" dirty="0"/>
              <a:t>Objectives &amp; Methodology</a:t>
            </a:r>
          </a:p>
          <a:p>
            <a:endParaRPr lang="en-US" sz="2400" dirty="0"/>
          </a:p>
          <a:p>
            <a:r>
              <a:rPr lang="en-US" sz="2400" dirty="0"/>
              <a:t>Solution Description</a:t>
            </a:r>
          </a:p>
          <a:p>
            <a:pPr marL="36900" indent="0">
              <a:buNone/>
            </a:pPr>
            <a:endParaRPr lang="en-US" sz="2400" dirty="0"/>
          </a:p>
        </p:txBody>
      </p:sp>
    </p:spTree>
    <p:extLst>
      <p:ext uri="{BB962C8B-B14F-4D97-AF65-F5344CB8AC3E}">
        <p14:creationId xmlns:p14="http://schemas.microsoft.com/office/powerpoint/2010/main" val="1860599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5BDCA-E181-428F-AFA1-F2F50A813FE7}"/>
              </a:ext>
            </a:extLst>
          </p:cNvPr>
          <p:cNvSpPr>
            <a:spLocks noGrp="1"/>
          </p:cNvSpPr>
          <p:nvPr>
            <p:ph type="title"/>
          </p:nvPr>
        </p:nvSpPr>
        <p:spPr>
          <a:xfrm>
            <a:off x="913795" y="609600"/>
            <a:ext cx="10419732" cy="1202422"/>
          </a:xfrm>
        </p:spPr>
        <p:txBody>
          <a:bodyPr>
            <a:normAutofit/>
          </a:bodyPr>
          <a:lstStyle/>
          <a:p>
            <a:pPr algn="l"/>
            <a:r>
              <a:rPr lang="en-US" sz="4800" dirty="0"/>
              <a:t>Introduction</a:t>
            </a:r>
          </a:p>
        </p:txBody>
      </p:sp>
      <p:sp>
        <p:nvSpPr>
          <p:cNvPr id="3" name="Content Placeholder 2">
            <a:extLst>
              <a:ext uri="{FF2B5EF4-FFF2-40B4-BE49-F238E27FC236}">
                <a16:creationId xmlns:a16="http://schemas.microsoft.com/office/drawing/2014/main" id="{2FA8B74A-099F-46A4-88BE-341F624E3272}"/>
              </a:ext>
            </a:extLst>
          </p:cNvPr>
          <p:cNvSpPr>
            <a:spLocks noGrp="1"/>
          </p:cNvSpPr>
          <p:nvPr>
            <p:ph idx="1"/>
          </p:nvPr>
        </p:nvSpPr>
        <p:spPr>
          <a:xfrm>
            <a:off x="1266132" y="2088859"/>
            <a:ext cx="10353762" cy="4058751"/>
          </a:xfrm>
        </p:spPr>
        <p:txBody>
          <a:bodyPr/>
          <a:lstStyle/>
          <a:p>
            <a:pPr marL="36900" indent="0" algn="just">
              <a:buNone/>
            </a:pPr>
            <a:r>
              <a:rPr lang="en-US" b="0" i="0" dirty="0">
                <a:solidFill>
                  <a:schemeClr val="tx1"/>
                </a:solidFill>
                <a:effectLst/>
                <a:latin typeface="Bahnschrift" panose="020B0502040204020203" pitchFamily="34" charset="0"/>
              </a:rPr>
              <a:t>Coronavirus infectious disease 2019 (COVID-19) is currently one of the most important public health crises affecting the global human population. It continues to spread widely, as the world still lacks specific treatments and a vaccine for the virus. The scenario of COVID-19 in India seems obscure due to the lack of adequate data, therefore, we developed an electronic questionnaire and distributed it online among Local people. The aim of this study was to understand by doing survey on </a:t>
            </a:r>
            <a:r>
              <a:rPr lang="en-US" dirty="0">
                <a:solidFill>
                  <a:schemeClr val="tx1"/>
                </a:solidFill>
                <a:effectLst/>
                <a:latin typeface="Bahnschrift" panose="020B0502040204020203" pitchFamily="34" charset="0"/>
              </a:rPr>
              <a:t>Food intake by people during </a:t>
            </a:r>
            <a:r>
              <a:rPr lang="en-US" b="0" i="0" dirty="0">
                <a:solidFill>
                  <a:schemeClr val="tx1"/>
                </a:solidFill>
                <a:effectLst/>
                <a:latin typeface="Bahnschrift" panose="020B0502040204020203" pitchFamily="34" charset="0"/>
              </a:rPr>
              <a:t>COVID-19.</a:t>
            </a:r>
            <a:endParaRPr lang="en-US"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1499788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BE7A2-3842-4BF3-9F69-91CBBED54AAA}"/>
              </a:ext>
            </a:extLst>
          </p:cNvPr>
          <p:cNvSpPr>
            <a:spLocks noGrp="1"/>
          </p:cNvSpPr>
          <p:nvPr>
            <p:ph type="title"/>
          </p:nvPr>
        </p:nvSpPr>
        <p:spPr/>
        <p:txBody>
          <a:bodyPr/>
          <a:lstStyle/>
          <a:p>
            <a:pPr algn="l"/>
            <a:r>
              <a:rPr lang="en-US" dirty="0"/>
              <a:t>Objectives</a:t>
            </a:r>
          </a:p>
        </p:txBody>
      </p:sp>
      <p:sp>
        <p:nvSpPr>
          <p:cNvPr id="3" name="Content Placeholder 2">
            <a:extLst>
              <a:ext uri="{FF2B5EF4-FFF2-40B4-BE49-F238E27FC236}">
                <a16:creationId xmlns:a16="http://schemas.microsoft.com/office/drawing/2014/main" id="{CA668965-1F7F-464D-BCAC-AD90A4B74755}"/>
              </a:ext>
            </a:extLst>
          </p:cNvPr>
          <p:cNvSpPr>
            <a:spLocks noGrp="1"/>
          </p:cNvSpPr>
          <p:nvPr>
            <p:ph idx="1"/>
          </p:nvPr>
        </p:nvSpPr>
        <p:spPr>
          <a:xfrm>
            <a:off x="1266132" y="1580050"/>
            <a:ext cx="10353762" cy="4058751"/>
          </a:xfrm>
        </p:spPr>
        <p:txBody>
          <a:bodyPr>
            <a:normAutofit fontScale="25000" lnSpcReduction="20000"/>
          </a:bodyPr>
          <a:lstStyle/>
          <a:p>
            <a:pPr marL="36900" indent="0">
              <a:buNone/>
            </a:pPr>
            <a:endParaRPr lang="en-US" sz="3800" b="1" dirty="0">
              <a:solidFill>
                <a:schemeClr val="tx1"/>
              </a:solidFill>
              <a:effectLst/>
              <a:latin typeface="BlinkMacSystemFont"/>
            </a:endParaRPr>
          </a:p>
          <a:p>
            <a:pPr>
              <a:buFont typeface="Wingdings" panose="05000000000000000000" pitchFamily="2" charset="2"/>
              <a:buChar char="q"/>
            </a:pPr>
            <a:r>
              <a:rPr lang="en-US" sz="8000" b="1" dirty="0">
                <a:solidFill>
                  <a:schemeClr val="tx1"/>
                </a:solidFill>
                <a:effectLst/>
                <a:latin typeface="Arial Rounded MT Bold" panose="020F0704030504030204" pitchFamily="34" charset="0"/>
              </a:rPr>
              <a:t>To Spread health awareness regarding food.</a:t>
            </a:r>
          </a:p>
          <a:p>
            <a:pPr>
              <a:buFont typeface="Wingdings" panose="05000000000000000000" pitchFamily="2" charset="2"/>
              <a:buChar char="q"/>
            </a:pPr>
            <a:endParaRPr lang="en-US" sz="8000" b="1" dirty="0">
              <a:solidFill>
                <a:schemeClr val="tx1"/>
              </a:solidFill>
              <a:effectLst/>
              <a:latin typeface="Arial Rounded MT Bold" panose="020F0704030504030204" pitchFamily="34" charset="0"/>
            </a:endParaRPr>
          </a:p>
          <a:p>
            <a:pPr>
              <a:buFont typeface="Wingdings" panose="05000000000000000000" pitchFamily="2" charset="2"/>
              <a:buChar char="q"/>
            </a:pPr>
            <a:r>
              <a:rPr lang="en-US" sz="8000" b="1" dirty="0">
                <a:solidFill>
                  <a:schemeClr val="tx1"/>
                </a:solidFill>
                <a:effectLst/>
                <a:latin typeface="Arial Rounded MT Bold" panose="020F0704030504030204" pitchFamily="34" charset="0"/>
              </a:rPr>
              <a:t>To analyze what are the chances of a person getting infected due to lack of awareness of food management.</a:t>
            </a:r>
          </a:p>
          <a:p>
            <a:pPr marL="36900" indent="0">
              <a:buNone/>
            </a:pPr>
            <a:endParaRPr lang="en-US" sz="8000" b="1" dirty="0">
              <a:solidFill>
                <a:schemeClr val="tx1"/>
              </a:solidFill>
              <a:effectLst/>
              <a:latin typeface="Arial Rounded MT Bold" panose="020F0704030504030204" pitchFamily="34" charset="0"/>
            </a:endParaRPr>
          </a:p>
          <a:p>
            <a:pPr>
              <a:buFont typeface="Wingdings" panose="05000000000000000000" pitchFamily="2" charset="2"/>
              <a:buChar char="q"/>
            </a:pPr>
            <a:r>
              <a:rPr lang="en-US" sz="8000" b="1" dirty="0">
                <a:solidFill>
                  <a:schemeClr val="tx1"/>
                </a:solidFill>
                <a:effectLst/>
                <a:latin typeface="Arial Rounded MT Bold" panose="020F0704030504030204" pitchFamily="34" charset="0"/>
              </a:rPr>
              <a:t>To see what kind of food supplies needed by the people from their local general stores during lockdown and help the stores to be ready with the stock.</a:t>
            </a:r>
          </a:p>
          <a:p>
            <a:pPr>
              <a:buFont typeface="Wingdings" panose="05000000000000000000" pitchFamily="2" charset="2"/>
              <a:buChar char="q"/>
            </a:pPr>
            <a:endParaRPr lang="en-US" sz="8000" b="1" dirty="0">
              <a:solidFill>
                <a:schemeClr val="tx1"/>
              </a:solidFill>
              <a:effectLst/>
              <a:latin typeface="Arial Rounded MT Bold" panose="020F0704030504030204" pitchFamily="34" charset="0"/>
            </a:endParaRPr>
          </a:p>
          <a:p>
            <a:pPr>
              <a:buFont typeface="Wingdings" panose="05000000000000000000" pitchFamily="2" charset="2"/>
              <a:buChar char="q"/>
            </a:pPr>
            <a:r>
              <a:rPr lang="en-US" sz="8000" b="1" dirty="0">
                <a:solidFill>
                  <a:schemeClr val="tx1"/>
                </a:solidFill>
                <a:effectLst/>
                <a:latin typeface="Arial Rounded MT Bold" panose="020F0704030504030204" pitchFamily="34" charset="0"/>
              </a:rPr>
              <a:t>What kind &amp; what type of measurements people applied for their health by seeing the covid spread.</a:t>
            </a:r>
          </a:p>
          <a:p>
            <a:pPr>
              <a:buFont typeface="Wingdings" panose="05000000000000000000" pitchFamily="2" charset="2"/>
              <a:buChar char="q"/>
            </a:pPr>
            <a:endParaRPr lang="en-US" sz="8000" b="1" dirty="0">
              <a:solidFill>
                <a:schemeClr val="tx1"/>
              </a:solidFill>
              <a:effectLst/>
              <a:latin typeface="Arial Rounded MT Bold" panose="020F0704030504030204" pitchFamily="34" charset="0"/>
            </a:endParaRPr>
          </a:p>
          <a:p>
            <a:pPr>
              <a:buFont typeface="Wingdings" panose="05000000000000000000" pitchFamily="2" charset="2"/>
              <a:buChar char="q"/>
            </a:pPr>
            <a:endParaRPr lang="en-US" b="1" dirty="0">
              <a:solidFill>
                <a:schemeClr val="tx1"/>
              </a:solidFill>
              <a:effectLst/>
              <a:latin typeface="Arial Rounded MT Bold" panose="020F0704030504030204" pitchFamily="34" charset="0"/>
            </a:endParaRPr>
          </a:p>
          <a:p>
            <a:pPr marL="36900" indent="0">
              <a:buNone/>
            </a:pPr>
            <a:endParaRPr lang="en-US" b="1" dirty="0">
              <a:solidFill>
                <a:schemeClr val="tx1"/>
              </a:solidFill>
              <a:effectLst/>
              <a:latin typeface="BlinkMacSystemFont"/>
            </a:endParaRPr>
          </a:p>
          <a:p>
            <a:endParaRPr lang="en-US" dirty="0"/>
          </a:p>
        </p:txBody>
      </p:sp>
    </p:spTree>
    <p:extLst>
      <p:ext uri="{BB962C8B-B14F-4D97-AF65-F5344CB8AC3E}">
        <p14:creationId xmlns:p14="http://schemas.microsoft.com/office/powerpoint/2010/main" val="503628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450790C-6351-46FC-B5AD-3020BD4E6352}"/>
              </a:ext>
            </a:extLst>
          </p:cNvPr>
          <p:cNvSpPr/>
          <p:nvPr/>
        </p:nvSpPr>
        <p:spPr>
          <a:xfrm>
            <a:off x="1231795" y="1686187"/>
            <a:ext cx="2550254" cy="22928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Data Collection Using</a:t>
            </a:r>
          </a:p>
          <a:p>
            <a:pPr algn="ctr"/>
            <a:r>
              <a:rPr lang="en-US" dirty="0"/>
              <a:t>Google Forms &amp; Excel to store Feedbacks</a:t>
            </a:r>
          </a:p>
        </p:txBody>
      </p:sp>
      <p:cxnSp>
        <p:nvCxnSpPr>
          <p:cNvPr id="6" name="Straight Arrow Connector 5">
            <a:extLst>
              <a:ext uri="{FF2B5EF4-FFF2-40B4-BE49-F238E27FC236}">
                <a16:creationId xmlns:a16="http://schemas.microsoft.com/office/drawing/2014/main" id="{648117BD-A929-4257-8D0E-B1BB9CEDA537}"/>
              </a:ext>
            </a:extLst>
          </p:cNvPr>
          <p:cNvCxnSpPr>
            <a:cxnSpLocks/>
          </p:cNvCxnSpPr>
          <p:nvPr/>
        </p:nvCxnSpPr>
        <p:spPr>
          <a:xfrm>
            <a:off x="3782049" y="2737142"/>
            <a:ext cx="914399"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Rectangle: Rounded Corners 7">
            <a:extLst>
              <a:ext uri="{FF2B5EF4-FFF2-40B4-BE49-F238E27FC236}">
                <a16:creationId xmlns:a16="http://schemas.microsoft.com/office/drawing/2014/main" id="{D721A9EA-7FC5-41E9-94AB-A9F5059DD484}"/>
              </a:ext>
            </a:extLst>
          </p:cNvPr>
          <p:cNvSpPr/>
          <p:nvPr/>
        </p:nvSpPr>
        <p:spPr>
          <a:xfrm>
            <a:off x="4696448" y="1686187"/>
            <a:ext cx="2550254" cy="226001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Analyzing the results using Excel Formulas</a:t>
            </a:r>
          </a:p>
        </p:txBody>
      </p:sp>
      <p:cxnSp>
        <p:nvCxnSpPr>
          <p:cNvPr id="9" name="Straight Arrow Connector 8">
            <a:extLst>
              <a:ext uri="{FF2B5EF4-FFF2-40B4-BE49-F238E27FC236}">
                <a16:creationId xmlns:a16="http://schemas.microsoft.com/office/drawing/2014/main" id="{8D441946-C5B3-4EC4-9772-263F28FA40DB}"/>
              </a:ext>
            </a:extLst>
          </p:cNvPr>
          <p:cNvCxnSpPr>
            <a:cxnSpLocks/>
          </p:cNvCxnSpPr>
          <p:nvPr/>
        </p:nvCxnSpPr>
        <p:spPr>
          <a:xfrm>
            <a:off x="7246702" y="2770696"/>
            <a:ext cx="1073791" cy="0"/>
          </a:xfrm>
          <a:prstGeom prst="straightConnector1">
            <a:avLst/>
          </a:prstGeom>
          <a:ln w="95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Rectangle: Rounded Corners 10">
            <a:extLst>
              <a:ext uri="{FF2B5EF4-FFF2-40B4-BE49-F238E27FC236}">
                <a16:creationId xmlns:a16="http://schemas.microsoft.com/office/drawing/2014/main" id="{A287FA99-C220-4AB5-BA4D-6D8D1869476F}"/>
              </a:ext>
            </a:extLst>
          </p:cNvPr>
          <p:cNvSpPr/>
          <p:nvPr/>
        </p:nvSpPr>
        <p:spPr>
          <a:xfrm>
            <a:off x="8320493" y="1686186"/>
            <a:ext cx="2550254" cy="220234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Showing the analyzed data in the form of Graphs/Pie chart</a:t>
            </a:r>
          </a:p>
        </p:txBody>
      </p:sp>
      <p:pic>
        <p:nvPicPr>
          <p:cNvPr id="15" name="Picture 14">
            <a:extLst>
              <a:ext uri="{FF2B5EF4-FFF2-40B4-BE49-F238E27FC236}">
                <a16:creationId xmlns:a16="http://schemas.microsoft.com/office/drawing/2014/main" id="{B3BFEB4E-D20D-47D3-B07F-5DF4C7357EE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43837" y="4551837"/>
            <a:ext cx="2285751" cy="719935"/>
          </a:xfrm>
          <a:prstGeom prst="rect">
            <a:avLst/>
          </a:prstGeom>
        </p:spPr>
      </p:pic>
      <p:pic>
        <p:nvPicPr>
          <p:cNvPr id="22" name="Picture 21">
            <a:extLst>
              <a:ext uri="{FF2B5EF4-FFF2-40B4-BE49-F238E27FC236}">
                <a16:creationId xmlns:a16="http://schemas.microsoft.com/office/drawing/2014/main" id="{750102B4-084B-4A34-948A-06515184FCD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185374" y="4140018"/>
            <a:ext cx="1572401" cy="1543574"/>
          </a:xfrm>
          <a:prstGeom prst="rect">
            <a:avLst/>
          </a:prstGeom>
        </p:spPr>
      </p:pic>
      <p:pic>
        <p:nvPicPr>
          <p:cNvPr id="25" name="Picture 24">
            <a:extLst>
              <a:ext uri="{FF2B5EF4-FFF2-40B4-BE49-F238E27FC236}">
                <a16:creationId xmlns:a16="http://schemas.microsoft.com/office/drawing/2014/main" id="{A33EA465-D3FA-4BF8-869B-BA1C875F596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783597" y="4074445"/>
            <a:ext cx="3717708" cy="1575241"/>
          </a:xfrm>
          <a:prstGeom prst="rect">
            <a:avLst/>
          </a:prstGeom>
        </p:spPr>
      </p:pic>
      <p:sp>
        <p:nvSpPr>
          <p:cNvPr id="27" name="TextBox 26">
            <a:extLst>
              <a:ext uri="{FF2B5EF4-FFF2-40B4-BE49-F238E27FC236}">
                <a16:creationId xmlns:a16="http://schemas.microsoft.com/office/drawing/2014/main" id="{8FCFC947-CAC7-4901-AAEC-6DF37C0558F1}"/>
              </a:ext>
            </a:extLst>
          </p:cNvPr>
          <p:cNvSpPr txBox="1"/>
          <p:nvPr/>
        </p:nvSpPr>
        <p:spPr>
          <a:xfrm>
            <a:off x="465588" y="490756"/>
            <a:ext cx="6451134" cy="830997"/>
          </a:xfrm>
          <a:prstGeom prst="rect">
            <a:avLst/>
          </a:prstGeom>
          <a:noFill/>
        </p:spPr>
        <p:txBody>
          <a:bodyPr wrap="square" rtlCol="0">
            <a:spAutoFit/>
          </a:bodyPr>
          <a:lstStyle/>
          <a:p>
            <a:r>
              <a:rPr lang="en-US" sz="4800" dirty="0"/>
              <a:t>Methodology</a:t>
            </a:r>
          </a:p>
        </p:txBody>
      </p:sp>
    </p:spTree>
    <p:extLst>
      <p:ext uri="{BB962C8B-B14F-4D97-AF65-F5344CB8AC3E}">
        <p14:creationId xmlns:p14="http://schemas.microsoft.com/office/powerpoint/2010/main" val="1485677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82E4-4B81-4CEA-966D-9FF25F513582}"/>
              </a:ext>
            </a:extLst>
          </p:cNvPr>
          <p:cNvSpPr>
            <a:spLocks noGrp="1"/>
          </p:cNvSpPr>
          <p:nvPr>
            <p:ph type="title"/>
          </p:nvPr>
        </p:nvSpPr>
        <p:spPr>
          <a:xfrm>
            <a:off x="0" y="525710"/>
            <a:ext cx="10353762" cy="970450"/>
          </a:xfrm>
        </p:spPr>
        <p:txBody>
          <a:bodyPr/>
          <a:lstStyle/>
          <a:p>
            <a:pPr algn="l"/>
            <a:r>
              <a:rPr lang="en-US" dirty="0"/>
              <a:t>Analysis Result</a:t>
            </a:r>
          </a:p>
        </p:txBody>
      </p:sp>
      <p:pic>
        <p:nvPicPr>
          <p:cNvPr id="7" name="Picture 6">
            <a:extLst>
              <a:ext uri="{FF2B5EF4-FFF2-40B4-BE49-F238E27FC236}">
                <a16:creationId xmlns:a16="http://schemas.microsoft.com/office/drawing/2014/main" id="{09511CE2-C7B6-4ADE-9C22-B692D5227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0760" y="3464889"/>
            <a:ext cx="7536110" cy="3331919"/>
          </a:xfrm>
          <a:prstGeom prst="rect">
            <a:avLst/>
          </a:prstGeom>
        </p:spPr>
      </p:pic>
      <p:sp>
        <p:nvSpPr>
          <p:cNvPr id="9" name="Content Placeholder 8">
            <a:extLst>
              <a:ext uri="{FF2B5EF4-FFF2-40B4-BE49-F238E27FC236}">
                <a16:creationId xmlns:a16="http://schemas.microsoft.com/office/drawing/2014/main" id="{E46D7741-AC75-4D09-A9BE-8CA884E3DB61}"/>
              </a:ext>
            </a:extLst>
          </p:cNvPr>
          <p:cNvSpPr>
            <a:spLocks noGrp="1"/>
          </p:cNvSpPr>
          <p:nvPr>
            <p:ph idx="1"/>
          </p:nvPr>
        </p:nvSpPr>
        <p:spPr>
          <a:xfrm>
            <a:off x="265131" y="1580222"/>
            <a:ext cx="3811919" cy="2003569"/>
          </a:xfrm>
        </p:spPr>
        <p:txBody>
          <a:bodyPr>
            <a:normAutofit fontScale="85000" lnSpcReduction="10000"/>
          </a:bodyPr>
          <a:lstStyle/>
          <a:p>
            <a:pPr marL="36900" indent="0" algn="just">
              <a:buNone/>
            </a:pPr>
            <a:r>
              <a:rPr lang="en-US" dirty="0"/>
              <a:t>During the lockdown people did face some food stock shortage, with the analysis we will get to know what kind of food stock they felt shortage of, with this we can approach for a solution of which food is needed to be restock in local stores.</a:t>
            </a:r>
          </a:p>
          <a:p>
            <a:pPr marL="36900" indent="0" algn="just">
              <a:buNone/>
            </a:pPr>
            <a:endParaRPr lang="en-US" dirty="0"/>
          </a:p>
          <a:p>
            <a:pPr marL="36900" indent="0" algn="just">
              <a:buNone/>
            </a:pPr>
            <a:endParaRPr lang="en-US" dirty="0"/>
          </a:p>
        </p:txBody>
      </p:sp>
      <p:pic>
        <p:nvPicPr>
          <p:cNvPr id="11" name="Picture 10">
            <a:extLst>
              <a:ext uri="{FF2B5EF4-FFF2-40B4-BE49-F238E27FC236}">
                <a16:creationId xmlns:a16="http://schemas.microsoft.com/office/drawing/2014/main" id="{F5A4C982-31BF-4894-B226-43F6442F7D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0760" y="754655"/>
            <a:ext cx="7536109" cy="2603619"/>
          </a:xfrm>
          <a:prstGeom prst="rect">
            <a:avLst/>
          </a:prstGeom>
        </p:spPr>
      </p:pic>
      <p:sp>
        <p:nvSpPr>
          <p:cNvPr id="12" name="TextBox 11">
            <a:extLst>
              <a:ext uri="{FF2B5EF4-FFF2-40B4-BE49-F238E27FC236}">
                <a16:creationId xmlns:a16="http://schemas.microsoft.com/office/drawing/2014/main" id="{3811D057-1A0C-44F1-B8EB-B25AC753B11A}"/>
              </a:ext>
            </a:extLst>
          </p:cNvPr>
          <p:cNvSpPr txBox="1"/>
          <p:nvPr/>
        </p:nvSpPr>
        <p:spPr>
          <a:xfrm>
            <a:off x="304237" y="4254910"/>
            <a:ext cx="3733706" cy="1200329"/>
          </a:xfrm>
          <a:prstGeom prst="rect">
            <a:avLst/>
          </a:prstGeom>
          <a:noFill/>
        </p:spPr>
        <p:txBody>
          <a:bodyPr wrap="square" rtlCol="0">
            <a:spAutoFit/>
          </a:bodyPr>
          <a:lstStyle/>
          <a:p>
            <a:pPr marL="36900" indent="0" algn="just">
              <a:buNone/>
            </a:pPr>
            <a:r>
              <a:rPr lang="en-US" dirty="0"/>
              <a:t>As it is clear from the graph that majority of people found difficulty in two stocks those are Vegetables &amp; Dairy products. </a:t>
            </a:r>
          </a:p>
        </p:txBody>
      </p:sp>
    </p:spTree>
    <p:extLst>
      <p:ext uri="{BB962C8B-B14F-4D97-AF65-F5344CB8AC3E}">
        <p14:creationId xmlns:p14="http://schemas.microsoft.com/office/powerpoint/2010/main" val="325826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0752E-7A03-42CD-B6AA-4BB28821BFDA}"/>
              </a:ext>
            </a:extLst>
          </p:cNvPr>
          <p:cNvSpPr>
            <a:spLocks noGrp="1"/>
          </p:cNvSpPr>
          <p:nvPr>
            <p:ph type="title"/>
          </p:nvPr>
        </p:nvSpPr>
        <p:spPr>
          <a:xfrm>
            <a:off x="545284" y="710925"/>
            <a:ext cx="10353762" cy="970450"/>
          </a:xfrm>
        </p:spPr>
        <p:txBody>
          <a:bodyPr/>
          <a:lstStyle/>
          <a:p>
            <a:pPr algn="l"/>
            <a:r>
              <a:rPr lang="en-US" dirty="0"/>
              <a:t>Impact</a:t>
            </a:r>
          </a:p>
        </p:txBody>
      </p:sp>
      <p:pic>
        <p:nvPicPr>
          <p:cNvPr id="5" name="Content Placeholder 4">
            <a:extLst>
              <a:ext uri="{FF2B5EF4-FFF2-40B4-BE49-F238E27FC236}">
                <a16:creationId xmlns:a16="http://schemas.microsoft.com/office/drawing/2014/main" id="{9E468C21-01F0-465A-BE16-21E7E03FBA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45104" y="2044534"/>
            <a:ext cx="7437765" cy="3132091"/>
          </a:xfrm>
        </p:spPr>
      </p:pic>
      <p:sp>
        <p:nvSpPr>
          <p:cNvPr id="6" name="TextBox 5">
            <a:extLst>
              <a:ext uri="{FF2B5EF4-FFF2-40B4-BE49-F238E27FC236}">
                <a16:creationId xmlns:a16="http://schemas.microsoft.com/office/drawing/2014/main" id="{71E16095-09C8-46FB-9F7B-C8574AFA8CC8}"/>
              </a:ext>
            </a:extLst>
          </p:cNvPr>
          <p:cNvSpPr txBox="1"/>
          <p:nvPr/>
        </p:nvSpPr>
        <p:spPr>
          <a:xfrm>
            <a:off x="780175" y="1948343"/>
            <a:ext cx="3582099" cy="3970318"/>
          </a:xfrm>
          <a:prstGeom prst="rect">
            <a:avLst/>
          </a:prstGeom>
          <a:noFill/>
        </p:spPr>
        <p:txBody>
          <a:bodyPr wrap="square" rtlCol="0">
            <a:spAutoFit/>
          </a:bodyPr>
          <a:lstStyle/>
          <a:p>
            <a:r>
              <a:rPr lang="en-US" dirty="0"/>
              <a:t>As it is clear from the pie chart shown that only few people were taking any preventive measures to keep check their immune and taking home medicinal remedies &amp; majority people are having their casual daily food which they used to take before corona.</a:t>
            </a:r>
          </a:p>
          <a:p>
            <a:endParaRPr lang="en-US" dirty="0"/>
          </a:p>
          <a:p>
            <a:r>
              <a:rPr lang="en-US" dirty="0"/>
              <a:t>This has happened due to lack of awareness among people like how to reduce the chances of getting infected by the virus by some precautions just by food.</a:t>
            </a:r>
          </a:p>
        </p:txBody>
      </p:sp>
    </p:spTree>
    <p:extLst>
      <p:ext uri="{BB962C8B-B14F-4D97-AF65-F5344CB8AC3E}">
        <p14:creationId xmlns:p14="http://schemas.microsoft.com/office/powerpoint/2010/main" val="1961219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48FE2-7AB9-4B7F-A367-937F6B7612E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31053" y="1030099"/>
            <a:ext cx="9529893" cy="2280101"/>
          </a:xfrm>
          <a:prstGeom prst="rect">
            <a:avLst/>
          </a:prstGeom>
        </p:spPr>
      </p:pic>
      <p:sp>
        <p:nvSpPr>
          <p:cNvPr id="7" name="TextBox 6">
            <a:extLst>
              <a:ext uri="{FF2B5EF4-FFF2-40B4-BE49-F238E27FC236}">
                <a16:creationId xmlns:a16="http://schemas.microsoft.com/office/drawing/2014/main" id="{ED745605-8FEF-4D97-9B8A-33C1736E4687}"/>
              </a:ext>
            </a:extLst>
          </p:cNvPr>
          <p:cNvSpPr txBox="1"/>
          <p:nvPr/>
        </p:nvSpPr>
        <p:spPr>
          <a:xfrm>
            <a:off x="855677" y="4110605"/>
            <a:ext cx="5553512" cy="1569660"/>
          </a:xfrm>
          <a:prstGeom prst="rect">
            <a:avLst/>
          </a:prstGeom>
          <a:noFill/>
        </p:spPr>
        <p:txBody>
          <a:bodyPr wrap="square" rtlCol="0">
            <a:spAutoFit/>
          </a:bodyPr>
          <a:lstStyle/>
          <a:p>
            <a:r>
              <a:rPr lang="en-US" sz="2400" dirty="0">
                <a:latin typeface="Arial Rounded MT Bold" panose="020F0704030504030204" pitchFamily="34" charset="0"/>
              </a:rPr>
              <a:t>THANK YOU</a:t>
            </a:r>
          </a:p>
          <a:p>
            <a:endParaRPr lang="en-US" sz="2400" dirty="0">
              <a:latin typeface="Arial Rounded MT Bold" panose="020F0704030504030204" pitchFamily="34" charset="0"/>
            </a:endParaRPr>
          </a:p>
          <a:p>
            <a:r>
              <a:rPr lang="en-US" sz="2400" dirty="0"/>
              <a:t>Amartya Chatterjee</a:t>
            </a:r>
          </a:p>
          <a:p>
            <a:r>
              <a:rPr lang="en-US" sz="2400" dirty="0"/>
              <a:t>89561xxxxx</a:t>
            </a:r>
          </a:p>
        </p:txBody>
      </p:sp>
    </p:spTree>
    <p:extLst>
      <p:ext uri="{BB962C8B-B14F-4D97-AF65-F5344CB8AC3E}">
        <p14:creationId xmlns:p14="http://schemas.microsoft.com/office/powerpoint/2010/main" val="36462374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1558</TotalTime>
  <Words>380</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 Rounded MT Bold</vt:lpstr>
      <vt:lpstr>Bahnschrift</vt:lpstr>
      <vt:lpstr>BlinkMacSystemFont</vt:lpstr>
      <vt:lpstr>Calisto MT</vt:lpstr>
      <vt:lpstr>Wingdings</vt:lpstr>
      <vt:lpstr>Wingdings 2</vt:lpstr>
      <vt:lpstr>Slate</vt:lpstr>
      <vt:lpstr>Food Survey During Covid-19 </vt:lpstr>
      <vt:lpstr>Agenda</vt:lpstr>
      <vt:lpstr>Introduction</vt:lpstr>
      <vt:lpstr>Objectives</vt:lpstr>
      <vt:lpstr>PowerPoint Presentation</vt:lpstr>
      <vt:lpstr>Analysis Result</vt:lpstr>
      <vt:lpstr>Impact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Amartya Chatterjee</dc:creator>
  <cp:lastModifiedBy>Amartya Chatterjee</cp:lastModifiedBy>
  <cp:revision>17</cp:revision>
  <dcterms:created xsi:type="dcterms:W3CDTF">2021-07-28T10:02:30Z</dcterms:created>
  <dcterms:modified xsi:type="dcterms:W3CDTF">2021-08-08T12:52:55Z</dcterms:modified>
</cp:coreProperties>
</file>